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10058400" cy="7772400"/>
  <p:notesSz cx="7772400" cy="100584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8" d="100"/>
          <a:sy n="108" d="100"/>
        </p:scale>
        <p:origin x="760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609245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9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961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kern="0" spc="400" dirty="0">
                <a:solidFill>
                  <a:srgbClr val="6B656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For the Center for Supportive Schools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8961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AI in 2026 — Pocket cheat sheet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051560"/>
            <a:ext cx="8961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6B656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From our session · cbklearning.com/css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417320"/>
            <a:ext cx="640080" cy="36576"/>
          </a:xfrm>
          <a:prstGeom prst="rect">
            <a:avLst/>
          </a:prstGeom>
          <a:solidFill>
            <a:srgbClr val="E85D3A"/>
          </a:solidFill>
          <a:ln w="12700">
            <a:solidFill>
              <a:srgbClr val="E85D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548640" y="1691640"/>
            <a:ext cx="4434840" cy="2606040"/>
          </a:xfrm>
          <a:prstGeom prst="rect">
            <a:avLst/>
          </a:prstGeom>
          <a:solidFill>
            <a:srgbClr val="FFFFFF"/>
          </a:solidFill>
          <a:ln w="9525">
            <a:solidFill>
              <a:srgbClr val="E8E5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548640" y="1691640"/>
            <a:ext cx="73152" cy="2606040"/>
          </a:xfrm>
          <a:prstGeom prst="rect">
            <a:avLst/>
          </a:prstGeom>
          <a:solidFill>
            <a:srgbClr val="E85D3A"/>
          </a:solidFill>
          <a:ln w="12700">
            <a:solidFill>
              <a:srgbClr val="E85D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822960" y="1874520"/>
            <a:ext cx="4069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300" dirty="0">
                <a:solidFill>
                  <a:srgbClr val="E85D3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HOW AI WORKS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822960" y="2103120"/>
            <a:ext cx="4069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The Plinko model.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22960" y="2560320"/>
            <a:ext cx="39776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800"/>
              </a:spcAft>
              <a:buNone/>
            </a:pPr>
            <a:r>
              <a:rPr lang="en-US" sz="1100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AI is </a:t>
            </a:r>
            <a:r>
              <a:rPr lang="en-US" sz="1100" b="1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probabilistic</a:t>
            </a:r>
            <a:r>
              <a:rPr lang="en-US" sz="1100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, not deterministic. Your prompt drops into a Plinko board, bounces through billions of weighted pegs, and lands somewhere.</a:t>
            </a:r>
            <a:endParaRPr lang="en-US" sz="1100" dirty="0"/>
          </a:p>
          <a:p>
            <a:pPr marL="0" indent="0" algn="l">
              <a:spcAft>
                <a:spcPts val="800"/>
              </a:spcAft>
              <a:buNone/>
            </a:pPr>
            <a:r>
              <a:rPr lang="en-US" sz="1100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Same prompt → different output every time. Treat each response as a draw from a distribution, not as </a:t>
            </a:r>
            <a:r>
              <a:rPr lang="en-US" sz="1100" i="1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the</a:t>
            </a:r>
            <a:r>
              <a:rPr lang="en-US" sz="1100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 answer.</a:t>
            </a:r>
            <a:endParaRPr lang="en-US" sz="1100" dirty="0"/>
          </a:p>
          <a:p>
            <a:pPr marL="0" indent="0" algn="l">
              <a:spcAft>
                <a:spcPts val="800"/>
              </a:spcAft>
              <a:buNone/>
            </a:pPr>
            <a:r>
              <a:rPr lang="en-US" sz="1100" i="1" dirty="0">
                <a:solidFill>
                  <a:srgbClr val="6B656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Hallucinations aren't a bug — they're the feature. The same mechanism that makes AI creative is what makes it wrong.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257800" y="1691640"/>
            <a:ext cx="4434840" cy="2606040"/>
          </a:xfrm>
          <a:prstGeom prst="rect">
            <a:avLst/>
          </a:prstGeom>
          <a:solidFill>
            <a:srgbClr val="FFFFFF"/>
          </a:solidFill>
          <a:ln w="9525">
            <a:solidFill>
              <a:srgbClr val="E8E5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5257800" y="1691640"/>
            <a:ext cx="73152" cy="2606040"/>
          </a:xfrm>
          <a:prstGeom prst="rect">
            <a:avLst/>
          </a:prstGeom>
          <a:solidFill>
            <a:srgbClr val="E85D3A"/>
          </a:solidFill>
          <a:ln w="12700">
            <a:solidFill>
              <a:srgbClr val="E85D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532120" y="1874520"/>
            <a:ext cx="4069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300" dirty="0">
                <a:solidFill>
                  <a:srgbClr val="E85D3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WHERE TO START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532120" y="2103120"/>
            <a:ext cx="4069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Expertise × Attention.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532120" y="2560320"/>
            <a:ext cx="39776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800"/>
              </a:spcAft>
              <a:buNone/>
            </a:pPr>
            <a:r>
              <a:rPr lang="en-US" sz="1100" b="1" dirty="0">
                <a:solidFill>
                  <a:srgbClr val="16A34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STARTER ZONE</a:t>
            </a:r>
            <a:r>
              <a:rPr lang="en-US" sz="1100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 — high expertise + high attention. Amplify your strengths. Start with hobbies and areas of expertise.</a:t>
            </a:r>
            <a:endParaRPr lang="en-US" sz="1100" dirty="0"/>
          </a:p>
          <a:p>
            <a:pPr marL="0" indent="0" algn="l">
              <a:spcAft>
                <a:spcPts val="800"/>
              </a:spcAft>
              <a:buNone/>
            </a:pPr>
            <a:r>
              <a:rPr lang="en-US" sz="1100" b="1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Teach me</a:t>
            </a:r>
            <a:r>
              <a:rPr lang="en-US" sz="1100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 — low expertise + high attention. Learn with it.</a:t>
            </a:r>
            <a:endParaRPr lang="en-US" sz="1100" dirty="0"/>
          </a:p>
          <a:p>
            <a:pPr marL="0" indent="0" algn="l">
              <a:spcAft>
                <a:spcPts val="800"/>
              </a:spcAft>
              <a:buNone/>
            </a:pPr>
            <a:r>
              <a:rPr lang="en-US" sz="1100" b="1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Systematize</a:t>
            </a:r>
            <a:r>
              <a:rPr lang="en-US" sz="1100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 — high expertise + low attention. Custom GPTs / gems.</a:t>
            </a:r>
            <a:endParaRPr lang="en-US" sz="1100" dirty="0"/>
          </a:p>
          <a:p>
            <a:pPr marL="0" indent="0" algn="l">
              <a:spcAft>
                <a:spcPts val="800"/>
              </a:spcAft>
              <a:buNone/>
            </a:pPr>
            <a:r>
              <a:rPr lang="en-US" sz="1100" b="1" dirty="0">
                <a:solidFill>
                  <a:srgbClr val="9A1F1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DANGER ZONE</a:t>
            </a:r>
            <a:r>
              <a:rPr lang="en-US" sz="1100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 — low + low. Don’t go here without being cautious and aware of the pitfalls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" y="4572000"/>
            <a:ext cx="4434840" cy="2606040"/>
          </a:xfrm>
          <a:prstGeom prst="rect">
            <a:avLst/>
          </a:prstGeom>
          <a:solidFill>
            <a:srgbClr val="FFFFFF"/>
          </a:solidFill>
          <a:ln w="9525">
            <a:solidFill>
              <a:srgbClr val="E8E5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548640" y="4572000"/>
            <a:ext cx="73152" cy="2606040"/>
          </a:xfrm>
          <a:prstGeom prst="rect">
            <a:avLst/>
          </a:prstGeom>
          <a:solidFill>
            <a:srgbClr val="E85D3A"/>
          </a:solidFill>
          <a:ln w="12700">
            <a:solidFill>
              <a:srgbClr val="E85D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822960" y="4754880"/>
            <a:ext cx="4069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300" dirty="0">
                <a:solidFill>
                  <a:srgbClr val="E85D3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WHAT YOU OFFLOAD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822960" y="4983480"/>
            <a:ext cx="4069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Narrow, not broad.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822960" y="5440680"/>
            <a:ext cx="39776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800"/>
              </a:spcAft>
              <a:buNone/>
            </a:pPr>
            <a:r>
              <a:rPr lang="en-US" sz="1100" b="1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Broad offload</a:t>
            </a:r>
            <a:r>
              <a:rPr lang="en-US" sz="1100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 — hand it the whole task. Skills decline in about three months.</a:t>
            </a:r>
            <a:endParaRPr lang="en-US" sz="1100" dirty="0"/>
          </a:p>
          <a:p>
            <a:pPr marL="0" indent="0" algn="l">
              <a:spcAft>
                <a:spcPts val="800"/>
              </a:spcAft>
              <a:buNone/>
            </a:pPr>
            <a:r>
              <a:rPr lang="en-US" sz="1100" b="1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Narrow offload</a:t>
            </a:r>
            <a:r>
              <a:rPr lang="en-US" sz="1100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 — hand off the friction, keep the thinking.</a:t>
            </a:r>
            <a:endParaRPr lang="en-US" sz="1100" dirty="0"/>
          </a:p>
          <a:p>
            <a:pPr marL="0" indent="0" algn="l">
              <a:spcAft>
                <a:spcPts val="800"/>
              </a:spcAft>
              <a:buNone/>
            </a:pPr>
            <a:r>
              <a:rPr lang="en-US" sz="1100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AI should eat </a:t>
            </a:r>
            <a:r>
              <a:rPr lang="en-US" sz="1100" b="1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extraneous</a:t>
            </a:r>
            <a:r>
              <a:rPr lang="en-US" sz="1100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 difficulty (formatting, hunting for information), not </a:t>
            </a:r>
            <a:r>
              <a:rPr lang="en-US" sz="1100" b="1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germane</a:t>
            </a:r>
            <a:r>
              <a:rPr lang="en-US" sz="1100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 difficulty (the productive struggle that builds skill).</a:t>
            </a:r>
            <a:endParaRPr lang="en-US" sz="1100" dirty="0"/>
          </a:p>
          <a:p>
            <a:pPr marL="0" indent="0" algn="l">
              <a:spcAft>
                <a:spcPts val="800"/>
              </a:spcAft>
              <a:buNone/>
            </a:pPr>
            <a:r>
              <a:rPr lang="en-US" sz="1100" i="1" dirty="0">
                <a:solidFill>
                  <a:srgbClr val="6B656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Bench press, dolly, forklift. Pick the right tool for the lift.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257800" y="4572000"/>
            <a:ext cx="4434840" cy="2606040"/>
          </a:xfrm>
          <a:prstGeom prst="rect">
            <a:avLst/>
          </a:prstGeom>
          <a:solidFill>
            <a:srgbClr val="FFFFFF"/>
          </a:solidFill>
          <a:ln w="9525">
            <a:solidFill>
              <a:srgbClr val="E8E5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5257800" y="4572000"/>
            <a:ext cx="73152" cy="2606040"/>
          </a:xfrm>
          <a:prstGeom prst="rect">
            <a:avLst/>
          </a:prstGeom>
          <a:solidFill>
            <a:srgbClr val="E85D3A"/>
          </a:solidFill>
          <a:ln w="12700">
            <a:solidFill>
              <a:srgbClr val="E85D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5532120" y="4754880"/>
            <a:ext cx="4069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300" dirty="0">
                <a:solidFill>
                  <a:srgbClr val="E85D3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BEFORE YOU TRUST IT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5532120" y="4983480"/>
            <a:ext cx="4069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Three questions.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5532120" y="5440680"/>
            <a:ext cx="39776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800"/>
              </a:spcAft>
              <a:buNone/>
            </a:pPr>
            <a:r>
              <a:rPr lang="en-US" sz="1100" b="1" dirty="0">
                <a:solidFill>
                  <a:srgbClr val="E85D3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1.  </a:t>
            </a:r>
            <a:r>
              <a:rPr lang="en-US" sz="1100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Is this a problem AI can actually solve?</a:t>
            </a:r>
            <a:endParaRPr lang="en-US" sz="1100" dirty="0"/>
          </a:p>
          <a:p>
            <a:pPr marL="0" indent="0" algn="l">
              <a:spcAft>
                <a:spcPts val="800"/>
              </a:spcAft>
              <a:buNone/>
            </a:pPr>
            <a:r>
              <a:rPr lang="en-US" sz="1100" b="1" dirty="0">
                <a:solidFill>
                  <a:srgbClr val="E85D3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2.  </a:t>
            </a:r>
            <a:r>
              <a:rPr lang="en-US" sz="1100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Does the model have enough good data to solve it?</a:t>
            </a:r>
            <a:endParaRPr lang="en-US" sz="1100" dirty="0"/>
          </a:p>
          <a:p>
            <a:pPr marL="0" indent="0" algn="l">
              <a:spcAft>
                <a:spcPts val="800"/>
              </a:spcAft>
              <a:buNone/>
            </a:pPr>
            <a:r>
              <a:rPr lang="en-US" sz="1100" b="1" dirty="0">
                <a:solidFill>
                  <a:srgbClr val="E85D3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3.  </a:t>
            </a:r>
            <a:r>
              <a:rPr lang="en-US" sz="1100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How close is the output to the real world I live in?</a:t>
            </a:r>
            <a:endParaRPr lang="en-US" sz="1100" dirty="0"/>
          </a:p>
          <a:p>
            <a:pPr marL="0" indent="0" algn="l">
              <a:spcAft>
                <a:spcPts val="800"/>
              </a:spcAft>
              <a:buNone/>
            </a:pPr>
            <a:r>
              <a:rPr lang="en-US" sz="1100" i="1" dirty="0">
                <a:solidFill>
                  <a:srgbClr val="6B656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Your expertise, in your context, is your only real edge. Bring it.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48640" y="7223760"/>
            <a:ext cx="164592" cy="164592"/>
          </a:xfrm>
          <a:prstGeom prst="ellipse">
            <a:avLst/>
          </a:prstGeom>
          <a:solidFill>
            <a:srgbClr val="9A1F1F"/>
          </a:solidFill>
          <a:ln w="12700">
            <a:solidFill>
              <a:srgbClr val="9A1F1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749808" y="7223760"/>
            <a:ext cx="164592" cy="164592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950976" y="7223760"/>
            <a:ext cx="164592" cy="164592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1188720" y="7178040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Red, yellow, green. </a:t>
            </a:r>
            <a:r>
              <a:rPr lang="en-US" sz="1000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Check NYCPS AI guidance before student-facing or data-sensitive work.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7223760" y="71780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E85D3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Session 2 · June 1 · 9:30 AM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333</Words>
  <Application>Microsoft Macintosh PowerPoint</Application>
  <PresentationFormat>Custom</PresentationFormat>
  <Paragraphs>29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Helvetica</vt:lpstr>
      <vt:lpstr>Office Theme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in 2026 — Pocket cheat sheet</dc:title>
  <dc:subject>PptxGenJS Presentation</dc:subject>
  <dc:creator>CBK Learning</dc:creator>
  <cp:lastModifiedBy>Connor Koblinski</cp:lastModifiedBy>
  <cp:revision>2</cp:revision>
  <dcterms:created xsi:type="dcterms:W3CDTF">2026-05-19T21:29:28Z</dcterms:created>
  <dcterms:modified xsi:type="dcterms:W3CDTF">2026-05-20T03:32:49Z</dcterms:modified>
</cp:coreProperties>
</file>